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59398" y="3588198"/>
            <a:ext cx="5177712" cy="861497"/>
          </a:xfrm>
        </p:spPr>
        <p:txBody>
          <a:bodyPr vert="horz" lIns="91440" tIns="45720" rIns="91440" bIns="45720" rtlCol="0" anchor="t">
            <a:normAutofit/>
          </a:bodyPr>
          <a:lstStyle/>
          <a:p>
            <a:pPr algn="r"/>
            <a:r>
              <a:rPr lang="en-US" dirty="0">
                <a:solidFill>
                  <a:schemeClr val="tx1"/>
                </a:solidFill>
                <a:latin typeface="Times New Roman" panose="02020603050405020304" pitchFamily="18" charset="0"/>
                <a:cs typeface="Times New Roman" panose="02020603050405020304" pitchFamily="18" charset="0"/>
              </a:rPr>
              <a:t>Student Name:Enjam Sai Priya </a:t>
            </a:r>
            <a:endParaRPr lang="en-IN" dirty="0">
              <a:solidFill>
                <a:schemeClr val="tx1"/>
              </a:solidFill>
              <a:latin typeface="Times New Roman" panose="02020603050405020304" pitchFamily="18" charset="0"/>
              <a:cs typeface="Times New Roman" panose="02020603050405020304" pitchFamily="18" charset="0"/>
            </a:endParaRPr>
          </a:p>
          <a:p>
            <a:pPr algn="r"/>
            <a:r>
              <a:rPr lang="en-US" dirty="0">
                <a:solidFill>
                  <a:schemeClr val="tx1"/>
                </a:solidFill>
                <a:latin typeface="Times New Roman" panose="02020603050405020304" pitchFamily="18" charset="0"/>
                <a:cs typeface="Times New Roman" panose="02020603050405020304" pitchFamily="18" charset="0"/>
              </a:rPr>
              <a:t>College Name-Vijaya Engineering College </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rmAutofit/>
          </a:bodyPr>
          <a:lstStyle/>
          <a:p>
            <a:r>
              <a:rPr lang="en-GB" sz="3200" dirty="0"/>
              <a:t>Project Title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4808912" cy="646331"/>
          </a:xfrm>
          <a:prstGeom prst="rect">
            <a:avLst/>
          </a:prstGeom>
          <a:noFill/>
        </p:spPr>
        <p:txBody>
          <a:bodyPr wrap="square" rtlCol="0">
            <a:spAutoFit/>
          </a:bodyPr>
          <a:lstStyle/>
          <a:p>
            <a:r>
              <a:rPr lang="en-US" b="1" dirty="0"/>
              <a:t>AICTE STU ID : </a:t>
            </a:r>
            <a:r>
              <a:rPr lang="en-IN" b="1" dirty="0"/>
              <a:t>STU67d9286dcb69c1742284909</a:t>
            </a:r>
            <a:endParaRPr lang="en-US" b="1" dirty="0"/>
          </a:p>
        </p:txBody>
      </p:sp>
      <p:sp>
        <p:nvSpPr>
          <p:cNvPr id="5" name="TextBox 4">
            <a:extLst>
              <a:ext uri="{FF2B5EF4-FFF2-40B4-BE49-F238E27FC236}">
                <a16:creationId xmlns:a16="http://schemas.microsoft.com/office/drawing/2014/main" id="{15106C23-4B79-C9C7-D00C-FE89D18F7A69}"/>
              </a:ext>
            </a:extLst>
          </p:cNvPr>
          <p:cNvSpPr txBox="1"/>
          <p:nvPr/>
        </p:nvSpPr>
        <p:spPr>
          <a:xfrm>
            <a:off x="3291841" y="2904754"/>
            <a:ext cx="5497596" cy="400110"/>
          </a:xfrm>
          <a:prstGeom prst="rect">
            <a:avLst/>
          </a:prstGeom>
          <a:noFill/>
        </p:spPr>
        <p:txBody>
          <a:bodyPr wrap="square" rtlCol="0">
            <a:spAutoFit/>
          </a:bodyPr>
          <a:lstStyle/>
          <a:p>
            <a:r>
              <a:rPr lang="en-IN" sz="2000" b="1" dirty="0"/>
              <a:t>Seasonal Agriculture Performance Analysis</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b="0" dirty="0"/>
              <a:t>Project Description</a:t>
            </a:r>
            <a:br>
              <a:rPr lang="en-GB" b="0" dirty="0"/>
            </a:br>
            <a:br>
              <a:rPr lang="en-GB" sz="2200" b="0" dirty="0"/>
            </a:br>
            <a:r>
              <a:rPr lang="en-IN" sz="1800" b="0" dirty="0"/>
              <a:t>Seasonal Agriculture Performance Analysis is a Data Analytics project that examines agricultural activities across Kharif, Rabi and Zaid seasons.</a:t>
            </a:r>
            <a:br>
              <a:rPr lang="en-IN" sz="1800" b="0" dirty="0"/>
            </a:br>
            <a:r>
              <a:rPr lang="en-IN" sz="1800" b="0" dirty="0"/>
              <a:t>The project uses agricultural data containing information about crops, geographical regions, environmental conditions, irrigation methods, fertilizer usage, water consumption, production, yield, revenue, cost and profit.</a:t>
            </a:r>
            <a:br>
              <a:rPr lang="en-IN" sz="1800" b="0" dirty="0"/>
            </a:br>
            <a:r>
              <a:rPr lang="en-IN" sz="1800" b="0" dirty="0"/>
              <a:t>The analysis begins with data understanding and cleaning, followed by exploratory data analysis and visualization. Seasonal comparisons are performed to understand differences in agricultural performance.</a:t>
            </a:r>
            <a:br>
              <a:rPr lang="en-IN" sz="1800" b="0" dirty="0"/>
            </a:br>
            <a:r>
              <a:rPr lang="en-IN" sz="1800" b="0" dirty="0"/>
              <a:t>The project also analyzes environmental conditions, irrigation, fertilizer usage, water efficiency, crop performance, regional performance and profitability.</a:t>
            </a:r>
            <a:br>
              <a:rPr lang="en-IN" sz="1800" b="0" dirty="0"/>
            </a:br>
            <a:r>
              <a:rPr lang="en-IN" sz="1800" b="0" dirty="0"/>
              <a:t>Statistical techniques such as one-way ANOVA and correlation analysis are used to determine significant differences and relationships within the dataset.</a:t>
            </a:r>
            <a:br>
              <a:rPr lang="en-IN" sz="1800" b="0" dirty="0"/>
            </a:br>
            <a:r>
              <a:rPr lang="en-IN" sz="1800" b="0" dirty="0"/>
              <a:t>The final objective is to generate evidence-based insights and recommendations that can support better seasonal agricultural planning.</a:t>
            </a:r>
            <a:br>
              <a:rPr lang="en-IN" sz="3200" dirty="0"/>
            </a:br>
            <a:br>
              <a:rPr lang="en-GB" sz="3100"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679258"/>
            <a:ext cx="7904481" cy="3990023"/>
          </a:xfrm>
        </p:spPr>
        <p:txBody>
          <a:bodyPr>
            <a:normAutofit fontScale="25000" lnSpcReduction="20000"/>
          </a:bodyPr>
          <a:lstStyle/>
          <a:p>
            <a:r>
              <a:rPr lang="en-IN" sz="5600" b="1" dirty="0"/>
              <a:t>Farmers</a:t>
            </a:r>
          </a:p>
          <a:p>
            <a:r>
              <a:rPr lang="en-IN" sz="5600" dirty="0"/>
              <a:t>Can understand seasonal yield, resource usage and profitability patterns.</a:t>
            </a:r>
          </a:p>
          <a:p>
            <a:endParaRPr lang="en-IN" sz="5600" dirty="0"/>
          </a:p>
          <a:p>
            <a:r>
              <a:rPr lang="en-IN" sz="5600" b="1" dirty="0"/>
              <a:t>Agricultural Planners</a:t>
            </a:r>
          </a:p>
          <a:p>
            <a:r>
              <a:rPr lang="en-IN" sz="5600" dirty="0"/>
              <a:t>Can use seasonal insights for better agricultural planning and resource allocation.</a:t>
            </a:r>
          </a:p>
          <a:p>
            <a:endParaRPr lang="en-IN" sz="5600" dirty="0"/>
          </a:p>
          <a:p>
            <a:r>
              <a:rPr lang="en-IN" sz="5600" b="1" dirty="0"/>
              <a:t>Agricultural Researchers</a:t>
            </a:r>
          </a:p>
          <a:p>
            <a:r>
              <a:rPr lang="en-IN" sz="5600" dirty="0"/>
              <a:t>Can study relationships between environmental conditions, farming practices and agricultural outcomes.</a:t>
            </a:r>
          </a:p>
          <a:p>
            <a:endParaRPr lang="en-IN" sz="5600" dirty="0"/>
          </a:p>
          <a:p>
            <a:r>
              <a:rPr lang="en-IN" sz="5600" b="1" dirty="0"/>
              <a:t>Government &amp; Agricultural Departments</a:t>
            </a:r>
          </a:p>
          <a:p>
            <a:r>
              <a:rPr lang="en-IN" sz="5600" dirty="0"/>
              <a:t>Can use data-driven insights to support seasonal agricultural policies and planning.</a:t>
            </a:r>
          </a:p>
          <a:p>
            <a:endParaRPr lang="en-IN" sz="5600" dirty="0"/>
          </a:p>
          <a:p>
            <a:r>
              <a:rPr lang="en-IN" sz="5600" b="1" dirty="0"/>
              <a:t>Agricultural Businesses</a:t>
            </a:r>
          </a:p>
          <a:p>
            <a:r>
              <a:rPr lang="en-IN" sz="5600" dirty="0"/>
              <a:t>Can understand production, cost and profitability patterns across seasons and regions.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1000"/>
                                        <p:tgtEl>
                                          <p:spTgt spid="2">
                                            <p:txEl>
                                              <p:pRg st="4" end="4"/>
                                            </p:txEl>
                                          </p:spTgt>
                                        </p:tgtEl>
                                      </p:cBhvr>
                                    </p:animEffect>
                                    <p:anim calcmode="lin" valueType="num">
                                      <p:cBhvr>
                                        <p:cTn id="36"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6" end="6"/>
                                            </p:txEl>
                                          </p:spTgt>
                                        </p:tgtEl>
                                        <p:attrNameLst>
                                          <p:attrName>style.visibility</p:attrName>
                                        </p:attrNameLst>
                                      </p:cBhvr>
                                      <p:to>
                                        <p:strVal val="visible"/>
                                      </p:to>
                                    </p:set>
                                    <p:animEffect transition="in" filter="fade">
                                      <p:cBhvr>
                                        <p:cTn id="42" dur="1000"/>
                                        <p:tgtEl>
                                          <p:spTgt spid="2">
                                            <p:txEl>
                                              <p:pRg st="6" end="6"/>
                                            </p:txEl>
                                          </p:spTgt>
                                        </p:tgtEl>
                                      </p:cBhvr>
                                    </p:animEffect>
                                    <p:anim calcmode="lin" valueType="num">
                                      <p:cBhvr>
                                        <p:cTn id="43"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7" end="7"/>
                                            </p:txEl>
                                          </p:spTgt>
                                        </p:tgtEl>
                                        <p:attrNameLst>
                                          <p:attrName>style.visibility</p:attrName>
                                        </p:attrNameLst>
                                      </p:cBhvr>
                                      <p:to>
                                        <p:strVal val="visible"/>
                                      </p:to>
                                    </p:set>
                                    <p:animEffect transition="in" filter="fade">
                                      <p:cBhvr>
                                        <p:cTn id="49" dur="1000"/>
                                        <p:tgtEl>
                                          <p:spTgt spid="2">
                                            <p:txEl>
                                              <p:pRg st="7" end="7"/>
                                            </p:txEl>
                                          </p:spTgt>
                                        </p:tgtEl>
                                      </p:cBhvr>
                                    </p:animEffect>
                                    <p:anim calcmode="lin" valueType="num">
                                      <p:cBhvr>
                                        <p:cTn id="50"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9" end="9"/>
                                            </p:txEl>
                                          </p:spTgt>
                                        </p:tgtEl>
                                        <p:attrNameLst>
                                          <p:attrName>style.visibility</p:attrName>
                                        </p:attrNameLst>
                                      </p:cBhvr>
                                      <p:to>
                                        <p:strVal val="visible"/>
                                      </p:to>
                                    </p:set>
                                    <p:animEffect transition="in" filter="fade">
                                      <p:cBhvr>
                                        <p:cTn id="56" dur="1000"/>
                                        <p:tgtEl>
                                          <p:spTgt spid="2">
                                            <p:txEl>
                                              <p:pRg st="9" end="9"/>
                                            </p:txEl>
                                          </p:spTgt>
                                        </p:tgtEl>
                                      </p:cBhvr>
                                    </p:animEffect>
                                    <p:anim calcmode="lin" valueType="num">
                                      <p:cBhvr>
                                        <p:cTn id="57"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10" end="10"/>
                                            </p:txEl>
                                          </p:spTgt>
                                        </p:tgtEl>
                                        <p:attrNameLst>
                                          <p:attrName>style.visibility</p:attrName>
                                        </p:attrNameLst>
                                      </p:cBhvr>
                                      <p:to>
                                        <p:strVal val="visible"/>
                                      </p:to>
                                    </p:set>
                                    <p:animEffect transition="in" filter="fade">
                                      <p:cBhvr>
                                        <p:cTn id="63" dur="1000"/>
                                        <p:tgtEl>
                                          <p:spTgt spid="2">
                                            <p:txEl>
                                              <p:pRg st="10" end="10"/>
                                            </p:txEl>
                                          </p:spTgt>
                                        </p:tgtEl>
                                      </p:cBhvr>
                                    </p:animEffect>
                                    <p:anim calcmode="lin" valueType="num">
                                      <p:cBhvr>
                                        <p:cTn id="64"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2">
                                            <p:txEl>
                                              <p:pRg st="12" end="12"/>
                                            </p:txEl>
                                          </p:spTgt>
                                        </p:tgtEl>
                                        <p:attrNameLst>
                                          <p:attrName>style.visibility</p:attrName>
                                        </p:attrNameLst>
                                      </p:cBhvr>
                                      <p:to>
                                        <p:strVal val="visible"/>
                                      </p:to>
                                    </p:set>
                                    <p:animEffect transition="in" filter="fade">
                                      <p:cBhvr>
                                        <p:cTn id="70" dur="1000"/>
                                        <p:tgtEl>
                                          <p:spTgt spid="2">
                                            <p:txEl>
                                              <p:pRg st="12" end="12"/>
                                            </p:txEl>
                                          </p:spTgt>
                                        </p:tgtEl>
                                      </p:cBhvr>
                                    </p:animEffect>
                                    <p:anim calcmode="lin" valueType="num">
                                      <p:cBhvr>
                                        <p:cTn id="71" dur="1000" fill="hold"/>
                                        <p:tgtEl>
                                          <p:spTgt spid="2">
                                            <p:txEl>
                                              <p:pRg st="12" end="12"/>
                                            </p:txEl>
                                          </p:spTgt>
                                        </p:tgtEl>
                                        <p:attrNameLst>
                                          <p:attrName>ppt_x</p:attrName>
                                        </p:attrNameLst>
                                      </p:cBhvr>
                                      <p:tavLst>
                                        <p:tav tm="0">
                                          <p:val>
                                            <p:strVal val="#ppt_x"/>
                                          </p:val>
                                        </p:tav>
                                        <p:tav tm="100000">
                                          <p:val>
                                            <p:strVal val="#ppt_x"/>
                                          </p:val>
                                        </p:tav>
                                      </p:tavLst>
                                    </p:anim>
                                    <p:anim calcmode="lin" valueType="num">
                                      <p:cBhvr>
                                        <p:cTn id="72" dur="1000" fill="hold"/>
                                        <p:tgtEl>
                                          <p:spTgt spid="2">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2">
                                            <p:txEl>
                                              <p:pRg st="13" end="13"/>
                                            </p:txEl>
                                          </p:spTgt>
                                        </p:tgtEl>
                                        <p:attrNameLst>
                                          <p:attrName>style.visibility</p:attrName>
                                        </p:attrNameLst>
                                      </p:cBhvr>
                                      <p:to>
                                        <p:strVal val="visible"/>
                                      </p:to>
                                    </p:set>
                                    <p:animEffect transition="in" filter="fade">
                                      <p:cBhvr>
                                        <p:cTn id="77" dur="1000"/>
                                        <p:tgtEl>
                                          <p:spTgt spid="2">
                                            <p:txEl>
                                              <p:pRg st="13" end="13"/>
                                            </p:txEl>
                                          </p:spTgt>
                                        </p:tgtEl>
                                      </p:cBhvr>
                                    </p:animEffect>
                                    <p:anim calcmode="lin" valueType="num">
                                      <p:cBhvr>
                                        <p:cTn id="78" dur="1000" fill="hold"/>
                                        <p:tgtEl>
                                          <p:spTgt spid="2">
                                            <p:txEl>
                                              <p:pRg st="13" end="13"/>
                                            </p:txEl>
                                          </p:spTgt>
                                        </p:tgtEl>
                                        <p:attrNameLst>
                                          <p:attrName>ppt_x</p:attrName>
                                        </p:attrNameLst>
                                      </p:cBhvr>
                                      <p:tavLst>
                                        <p:tav tm="0">
                                          <p:val>
                                            <p:strVal val="#ppt_x"/>
                                          </p:val>
                                        </p:tav>
                                        <p:tav tm="100000">
                                          <p:val>
                                            <p:strVal val="#ppt_x"/>
                                          </p:val>
                                        </p:tav>
                                      </p:tavLst>
                                    </p:anim>
                                    <p:anim calcmode="lin" valueType="num">
                                      <p:cBhvr>
                                        <p:cTn id="79" dur="1000" fill="hold"/>
                                        <p:tgtEl>
                                          <p:spTgt spid="2">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normAutofit fontScale="32500" lnSpcReduction="20000"/>
          </a:bodyPr>
          <a:lstStyle/>
          <a:p>
            <a:pPr algn="ctr"/>
            <a:r>
              <a:rPr lang="en-IN" sz="2800" b="1" dirty="0"/>
              <a:t>Programming Language</a:t>
            </a:r>
          </a:p>
          <a:p>
            <a:pPr algn="ctr"/>
            <a:r>
              <a:rPr lang="en-IN" sz="2800" dirty="0"/>
              <a:t>Python</a:t>
            </a:r>
          </a:p>
          <a:p>
            <a:pPr algn="ctr"/>
            <a:r>
              <a:rPr lang="en-IN" sz="2800" b="1" dirty="0"/>
              <a:t>Libraries</a:t>
            </a:r>
          </a:p>
          <a:p>
            <a:pPr lvl="0" algn="ctr"/>
            <a:r>
              <a:rPr lang="en-IN" sz="2800" dirty="0"/>
              <a:t>Pandas</a:t>
            </a:r>
          </a:p>
          <a:p>
            <a:pPr lvl="0" algn="ctr"/>
            <a:r>
              <a:rPr lang="en-IN" sz="2800" dirty="0"/>
              <a:t>NumPy</a:t>
            </a:r>
          </a:p>
          <a:p>
            <a:pPr lvl="0" algn="ctr"/>
            <a:r>
              <a:rPr lang="en-IN" sz="2800" dirty="0"/>
              <a:t>Matplotlib</a:t>
            </a:r>
          </a:p>
          <a:p>
            <a:pPr lvl="0" algn="ctr"/>
            <a:r>
              <a:rPr lang="en-IN" sz="2800" dirty="0"/>
              <a:t>Seaborn</a:t>
            </a:r>
          </a:p>
          <a:p>
            <a:pPr lvl="0" algn="ctr"/>
            <a:r>
              <a:rPr lang="en-IN" sz="2800" dirty="0"/>
              <a:t>SciPy</a:t>
            </a:r>
          </a:p>
          <a:p>
            <a:pPr algn="ctr"/>
            <a:r>
              <a:rPr lang="en-IN" sz="2800" b="1" dirty="0"/>
              <a:t>Platform</a:t>
            </a:r>
          </a:p>
          <a:p>
            <a:pPr algn="ctr"/>
            <a:r>
              <a:rPr lang="en-IN" sz="2800" dirty="0"/>
              <a:t>Google </a:t>
            </a:r>
            <a:r>
              <a:rPr lang="en-IN" sz="2800" dirty="0" err="1"/>
              <a:t>Colab</a:t>
            </a:r>
            <a:r>
              <a:rPr lang="en-IN" sz="2800" dirty="0"/>
              <a:t> / Jupyter Notebook</a:t>
            </a:r>
          </a:p>
          <a:p>
            <a:pPr algn="ctr"/>
            <a:r>
              <a:rPr lang="en-IN" sz="2800" b="1" dirty="0"/>
              <a:t>Techniques</a:t>
            </a:r>
          </a:p>
          <a:p>
            <a:pPr lvl="0" algn="ctr"/>
            <a:r>
              <a:rPr lang="en-IN" sz="2800" dirty="0"/>
              <a:t>Data Cleaning</a:t>
            </a:r>
          </a:p>
          <a:p>
            <a:pPr lvl="0" algn="ctr"/>
            <a:r>
              <a:rPr lang="en-IN" sz="2800" dirty="0"/>
              <a:t>Exploratory Data Analysis</a:t>
            </a:r>
          </a:p>
          <a:p>
            <a:pPr lvl="0" algn="ctr"/>
            <a:r>
              <a:rPr lang="en-IN" sz="2800" dirty="0"/>
              <a:t>Data Visualization</a:t>
            </a:r>
          </a:p>
          <a:p>
            <a:pPr lvl="0" algn="ctr"/>
            <a:r>
              <a:rPr lang="en-IN" sz="2800" dirty="0"/>
              <a:t>Correlation Analysis</a:t>
            </a:r>
          </a:p>
          <a:p>
            <a:pPr lvl="0" algn="ctr"/>
            <a:r>
              <a:rPr lang="en-IN" sz="2800" dirty="0"/>
              <a:t>Statistical Analysis</a:t>
            </a:r>
          </a:p>
          <a:p>
            <a:pPr marL="0" lvl="0" indent="0" algn="ctr">
              <a:buNone/>
            </a:pPr>
            <a:endParaRPr lang="en-IN" dirty="0"/>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7">
                                            <p:txEl>
                                              <p:pRg st="8" end="8"/>
                                            </p:txEl>
                                          </p:spTgt>
                                        </p:tgtEl>
                                        <p:attrNameLst>
                                          <p:attrName>style.visibility</p:attrName>
                                        </p:attrNameLst>
                                      </p:cBhvr>
                                      <p:to>
                                        <p:strVal val="visible"/>
                                      </p:to>
                                    </p:set>
                                    <p:animEffect transition="in" filter="fade">
                                      <p:cBhvr>
                                        <p:cTn id="70" dur="1000"/>
                                        <p:tgtEl>
                                          <p:spTgt spid="7">
                                            <p:txEl>
                                              <p:pRg st="8" end="8"/>
                                            </p:txEl>
                                          </p:spTgt>
                                        </p:tgtEl>
                                      </p:cBhvr>
                                    </p:animEffect>
                                    <p:anim calcmode="lin" valueType="num">
                                      <p:cBhvr>
                                        <p:cTn id="71"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7">
                                            <p:txEl>
                                              <p:pRg st="9" end="9"/>
                                            </p:txEl>
                                          </p:spTgt>
                                        </p:tgtEl>
                                        <p:attrNameLst>
                                          <p:attrName>style.visibility</p:attrName>
                                        </p:attrNameLst>
                                      </p:cBhvr>
                                      <p:to>
                                        <p:strVal val="visible"/>
                                      </p:to>
                                    </p:set>
                                    <p:animEffect transition="in" filter="fade">
                                      <p:cBhvr>
                                        <p:cTn id="77" dur="1000"/>
                                        <p:tgtEl>
                                          <p:spTgt spid="7">
                                            <p:txEl>
                                              <p:pRg st="9" end="9"/>
                                            </p:txEl>
                                          </p:spTgt>
                                        </p:tgtEl>
                                      </p:cBhvr>
                                    </p:animEffect>
                                    <p:anim calcmode="lin" valueType="num">
                                      <p:cBhvr>
                                        <p:cTn id="78"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7">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7">
                                            <p:txEl>
                                              <p:pRg st="10" end="10"/>
                                            </p:txEl>
                                          </p:spTgt>
                                        </p:tgtEl>
                                        <p:attrNameLst>
                                          <p:attrName>style.visibility</p:attrName>
                                        </p:attrNameLst>
                                      </p:cBhvr>
                                      <p:to>
                                        <p:strVal val="visible"/>
                                      </p:to>
                                    </p:set>
                                    <p:animEffect transition="in" filter="fade">
                                      <p:cBhvr>
                                        <p:cTn id="84" dur="1000"/>
                                        <p:tgtEl>
                                          <p:spTgt spid="7">
                                            <p:txEl>
                                              <p:pRg st="10" end="10"/>
                                            </p:txEl>
                                          </p:spTgt>
                                        </p:tgtEl>
                                      </p:cBhvr>
                                    </p:animEffect>
                                    <p:anim calcmode="lin" valueType="num">
                                      <p:cBhvr>
                                        <p:cTn id="85"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86"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7">
                                            <p:txEl>
                                              <p:pRg st="11" end="11"/>
                                            </p:txEl>
                                          </p:spTgt>
                                        </p:tgtEl>
                                        <p:attrNameLst>
                                          <p:attrName>style.visibility</p:attrName>
                                        </p:attrNameLst>
                                      </p:cBhvr>
                                      <p:to>
                                        <p:strVal val="visible"/>
                                      </p:to>
                                    </p:set>
                                    <p:animEffect transition="in" filter="fade">
                                      <p:cBhvr>
                                        <p:cTn id="91" dur="1000"/>
                                        <p:tgtEl>
                                          <p:spTgt spid="7">
                                            <p:txEl>
                                              <p:pRg st="11" end="11"/>
                                            </p:txEl>
                                          </p:spTgt>
                                        </p:tgtEl>
                                      </p:cBhvr>
                                    </p:animEffect>
                                    <p:anim calcmode="lin" valueType="num">
                                      <p:cBhvr>
                                        <p:cTn id="92" dur="1000" fill="hold"/>
                                        <p:tgtEl>
                                          <p:spTgt spid="7">
                                            <p:txEl>
                                              <p:pRg st="11" end="11"/>
                                            </p:txEl>
                                          </p:spTgt>
                                        </p:tgtEl>
                                        <p:attrNameLst>
                                          <p:attrName>ppt_x</p:attrName>
                                        </p:attrNameLst>
                                      </p:cBhvr>
                                      <p:tavLst>
                                        <p:tav tm="0">
                                          <p:val>
                                            <p:strVal val="#ppt_x"/>
                                          </p:val>
                                        </p:tav>
                                        <p:tav tm="100000">
                                          <p:val>
                                            <p:strVal val="#ppt_x"/>
                                          </p:val>
                                        </p:tav>
                                      </p:tavLst>
                                    </p:anim>
                                    <p:anim calcmode="lin" valueType="num">
                                      <p:cBhvr>
                                        <p:cTn id="93" dur="1000" fill="hold"/>
                                        <p:tgtEl>
                                          <p:spTgt spid="7">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7">
                                            <p:txEl>
                                              <p:pRg st="12" end="12"/>
                                            </p:txEl>
                                          </p:spTgt>
                                        </p:tgtEl>
                                        <p:attrNameLst>
                                          <p:attrName>style.visibility</p:attrName>
                                        </p:attrNameLst>
                                      </p:cBhvr>
                                      <p:to>
                                        <p:strVal val="visible"/>
                                      </p:to>
                                    </p:set>
                                    <p:animEffect transition="in" filter="fade">
                                      <p:cBhvr>
                                        <p:cTn id="98" dur="1000"/>
                                        <p:tgtEl>
                                          <p:spTgt spid="7">
                                            <p:txEl>
                                              <p:pRg st="12" end="12"/>
                                            </p:txEl>
                                          </p:spTgt>
                                        </p:tgtEl>
                                      </p:cBhvr>
                                    </p:animEffect>
                                    <p:anim calcmode="lin" valueType="num">
                                      <p:cBhvr>
                                        <p:cTn id="99" dur="1000" fill="hold"/>
                                        <p:tgtEl>
                                          <p:spTgt spid="7">
                                            <p:txEl>
                                              <p:pRg st="12" end="12"/>
                                            </p:txEl>
                                          </p:spTgt>
                                        </p:tgtEl>
                                        <p:attrNameLst>
                                          <p:attrName>ppt_x</p:attrName>
                                        </p:attrNameLst>
                                      </p:cBhvr>
                                      <p:tavLst>
                                        <p:tav tm="0">
                                          <p:val>
                                            <p:strVal val="#ppt_x"/>
                                          </p:val>
                                        </p:tav>
                                        <p:tav tm="100000">
                                          <p:val>
                                            <p:strVal val="#ppt_x"/>
                                          </p:val>
                                        </p:tav>
                                      </p:tavLst>
                                    </p:anim>
                                    <p:anim calcmode="lin" valueType="num">
                                      <p:cBhvr>
                                        <p:cTn id="100" dur="1000" fill="hold"/>
                                        <p:tgtEl>
                                          <p:spTgt spid="7">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7">
                                            <p:txEl>
                                              <p:pRg st="13" end="13"/>
                                            </p:txEl>
                                          </p:spTgt>
                                        </p:tgtEl>
                                        <p:attrNameLst>
                                          <p:attrName>style.visibility</p:attrName>
                                        </p:attrNameLst>
                                      </p:cBhvr>
                                      <p:to>
                                        <p:strVal val="visible"/>
                                      </p:to>
                                    </p:set>
                                    <p:animEffect transition="in" filter="fade">
                                      <p:cBhvr>
                                        <p:cTn id="105" dur="1000"/>
                                        <p:tgtEl>
                                          <p:spTgt spid="7">
                                            <p:txEl>
                                              <p:pRg st="13" end="13"/>
                                            </p:txEl>
                                          </p:spTgt>
                                        </p:tgtEl>
                                      </p:cBhvr>
                                    </p:animEffect>
                                    <p:anim calcmode="lin" valueType="num">
                                      <p:cBhvr>
                                        <p:cTn id="106" dur="1000" fill="hold"/>
                                        <p:tgtEl>
                                          <p:spTgt spid="7">
                                            <p:txEl>
                                              <p:pRg st="13" end="13"/>
                                            </p:txEl>
                                          </p:spTgt>
                                        </p:tgtEl>
                                        <p:attrNameLst>
                                          <p:attrName>ppt_x</p:attrName>
                                        </p:attrNameLst>
                                      </p:cBhvr>
                                      <p:tavLst>
                                        <p:tav tm="0">
                                          <p:val>
                                            <p:strVal val="#ppt_x"/>
                                          </p:val>
                                        </p:tav>
                                        <p:tav tm="100000">
                                          <p:val>
                                            <p:strVal val="#ppt_x"/>
                                          </p:val>
                                        </p:tav>
                                      </p:tavLst>
                                    </p:anim>
                                    <p:anim calcmode="lin" valueType="num">
                                      <p:cBhvr>
                                        <p:cTn id="107" dur="1000" fill="hold"/>
                                        <p:tgtEl>
                                          <p:spTgt spid="7">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7">
                                            <p:txEl>
                                              <p:pRg st="14" end="14"/>
                                            </p:txEl>
                                          </p:spTgt>
                                        </p:tgtEl>
                                        <p:attrNameLst>
                                          <p:attrName>style.visibility</p:attrName>
                                        </p:attrNameLst>
                                      </p:cBhvr>
                                      <p:to>
                                        <p:strVal val="visible"/>
                                      </p:to>
                                    </p:set>
                                    <p:animEffect transition="in" filter="fade">
                                      <p:cBhvr>
                                        <p:cTn id="112" dur="1000"/>
                                        <p:tgtEl>
                                          <p:spTgt spid="7">
                                            <p:txEl>
                                              <p:pRg st="14" end="14"/>
                                            </p:txEl>
                                          </p:spTgt>
                                        </p:tgtEl>
                                      </p:cBhvr>
                                    </p:animEffect>
                                    <p:anim calcmode="lin" valueType="num">
                                      <p:cBhvr>
                                        <p:cTn id="113" dur="1000" fill="hold"/>
                                        <p:tgtEl>
                                          <p:spTgt spid="7">
                                            <p:txEl>
                                              <p:pRg st="14" end="14"/>
                                            </p:txEl>
                                          </p:spTgt>
                                        </p:tgtEl>
                                        <p:attrNameLst>
                                          <p:attrName>ppt_x</p:attrName>
                                        </p:attrNameLst>
                                      </p:cBhvr>
                                      <p:tavLst>
                                        <p:tav tm="0">
                                          <p:val>
                                            <p:strVal val="#ppt_x"/>
                                          </p:val>
                                        </p:tav>
                                        <p:tav tm="100000">
                                          <p:val>
                                            <p:strVal val="#ppt_x"/>
                                          </p:val>
                                        </p:tav>
                                      </p:tavLst>
                                    </p:anim>
                                    <p:anim calcmode="lin" valueType="num">
                                      <p:cBhvr>
                                        <p:cTn id="114" dur="1000" fill="hold"/>
                                        <p:tgtEl>
                                          <p:spTgt spid="7">
                                            <p:txEl>
                                              <p:pRg st="14" end="14"/>
                                            </p:txEl>
                                          </p:spTgt>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grpId="0" nodeType="clickEffect">
                                  <p:stCondLst>
                                    <p:cond delay="0"/>
                                  </p:stCondLst>
                                  <p:childTnLst>
                                    <p:set>
                                      <p:cBhvr>
                                        <p:cTn id="118" dur="1" fill="hold">
                                          <p:stCondLst>
                                            <p:cond delay="0"/>
                                          </p:stCondLst>
                                        </p:cTn>
                                        <p:tgtEl>
                                          <p:spTgt spid="7">
                                            <p:txEl>
                                              <p:pRg st="15" end="15"/>
                                            </p:txEl>
                                          </p:spTgt>
                                        </p:tgtEl>
                                        <p:attrNameLst>
                                          <p:attrName>style.visibility</p:attrName>
                                        </p:attrNameLst>
                                      </p:cBhvr>
                                      <p:to>
                                        <p:strVal val="visible"/>
                                      </p:to>
                                    </p:set>
                                    <p:animEffect transition="in" filter="fade">
                                      <p:cBhvr>
                                        <p:cTn id="119" dur="1000"/>
                                        <p:tgtEl>
                                          <p:spTgt spid="7">
                                            <p:txEl>
                                              <p:pRg st="15" end="15"/>
                                            </p:txEl>
                                          </p:spTgt>
                                        </p:tgtEl>
                                      </p:cBhvr>
                                    </p:animEffect>
                                    <p:anim calcmode="lin" valueType="num">
                                      <p:cBhvr>
                                        <p:cTn id="120" dur="1000" fill="hold"/>
                                        <p:tgtEl>
                                          <p:spTgt spid="7">
                                            <p:txEl>
                                              <p:pRg st="15" end="15"/>
                                            </p:txEl>
                                          </p:spTgt>
                                        </p:tgtEl>
                                        <p:attrNameLst>
                                          <p:attrName>ppt_x</p:attrName>
                                        </p:attrNameLst>
                                      </p:cBhvr>
                                      <p:tavLst>
                                        <p:tav tm="0">
                                          <p:val>
                                            <p:strVal val="#ppt_x"/>
                                          </p:val>
                                        </p:tav>
                                        <p:tav tm="100000">
                                          <p:val>
                                            <p:strVal val="#ppt_x"/>
                                          </p:val>
                                        </p:tav>
                                      </p:tavLst>
                                    </p:anim>
                                    <p:anim calcmode="lin" valueType="num">
                                      <p:cBhvr>
                                        <p:cTn id="121" dur="1000" fill="hold"/>
                                        <p:tgtEl>
                                          <p:spTgt spid="7">
                                            <p:txEl>
                                              <p:pRg st="15" end="1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C99B3587-89D7-5FC0-56B6-DEA12C90146A}"/>
              </a:ext>
            </a:extLst>
          </p:cNvPr>
          <p:cNvSpPr txBox="1"/>
          <p:nvPr/>
        </p:nvSpPr>
        <p:spPr>
          <a:xfrm>
            <a:off x="1119673" y="1777231"/>
            <a:ext cx="6102220" cy="3139321"/>
          </a:xfrm>
          <a:prstGeom prst="rect">
            <a:avLst/>
          </a:prstGeom>
          <a:noFill/>
        </p:spPr>
        <p:txBody>
          <a:bodyPr wrap="square">
            <a:spAutoFit/>
          </a:bodyPr>
          <a:lstStyle/>
          <a:p>
            <a:pPr>
              <a:buNone/>
            </a:pPr>
            <a:r>
              <a:rPr lang="en-IN" b="1" dirty="0"/>
              <a:t>Seasonal Performance</a:t>
            </a:r>
          </a:p>
          <a:p>
            <a:pPr marL="342900" lvl="0" indent="-342900">
              <a:buFont typeface="Arial" panose="020B0604020202020204" pitchFamily="34" charset="0"/>
              <a:buChar char="•"/>
            </a:pPr>
            <a:r>
              <a:rPr lang="en-IN" dirty="0"/>
              <a:t>Kharif recorded the highest average yield at approximately </a:t>
            </a:r>
            <a:r>
              <a:rPr lang="en-IN" b="1" dirty="0"/>
              <a:t>5.64 Tonnes/Ha</a:t>
            </a:r>
            <a:r>
              <a:rPr lang="en-IN" dirty="0"/>
              <a:t>.</a:t>
            </a:r>
          </a:p>
          <a:p>
            <a:pPr marL="342900" lvl="0" indent="-342900">
              <a:buFont typeface="Arial" panose="020B0604020202020204" pitchFamily="34" charset="0"/>
              <a:buChar char="•"/>
            </a:pPr>
            <a:r>
              <a:rPr lang="en-IN" dirty="0"/>
              <a:t>Rabi recorded an average yield of approximately </a:t>
            </a:r>
            <a:r>
              <a:rPr lang="en-IN" b="1" dirty="0"/>
              <a:t>5.08 Tonnes/Ha</a:t>
            </a:r>
            <a:r>
              <a:rPr lang="en-IN" dirty="0"/>
              <a:t>.</a:t>
            </a:r>
          </a:p>
          <a:p>
            <a:pPr marL="342900" lvl="0" indent="-342900">
              <a:buFont typeface="Arial" panose="020B0604020202020204" pitchFamily="34" charset="0"/>
              <a:buChar char="•"/>
            </a:pPr>
            <a:r>
              <a:rPr lang="en-IN" dirty="0"/>
              <a:t>Zaid recorded the lowest average yield at approximately </a:t>
            </a:r>
            <a:r>
              <a:rPr lang="en-IN" b="1" dirty="0"/>
              <a:t>4.67 Tonnes/Ha</a:t>
            </a:r>
            <a:r>
              <a:rPr lang="en-IN" dirty="0"/>
              <a:t>.</a:t>
            </a:r>
          </a:p>
          <a:p>
            <a:pPr marL="342900" lvl="0" indent="-342900">
              <a:buFont typeface="Arial" panose="020B0604020202020204" pitchFamily="34" charset="0"/>
              <a:buChar char="•"/>
            </a:pPr>
            <a:r>
              <a:rPr lang="en-IN" dirty="0"/>
              <a:t>Seasonal comparisons were performed using bar charts and boxplots.</a:t>
            </a:r>
          </a:p>
          <a:p>
            <a:pPr marL="342900" lvl="0" indent="-342900">
              <a:buFont typeface="Arial" panose="020B0604020202020204" pitchFamily="34" charset="0"/>
              <a:buChar char="•"/>
            </a:pPr>
            <a:r>
              <a:rPr lang="en-IN" dirty="0"/>
              <a:t>Yield variation was also examined to identify unusual observations.</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86E35A01-A281-71BC-CB00-EA4CCBB9F799}"/>
              </a:ext>
            </a:extLst>
          </p:cNvPr>
          <p:cNvPicPr>
            <a:picLocks noChangeAspect="1"/>
          </p:cNvPicPr>
          <p:nvPr/>
        </p:nvPicPr>
        <p:blipFill>
          <a:blip r:embed="rId3"/>
          <a:stretch>
            <a:fillRect/>
          </a:stretch>
        </p:blipFill>
        <p:spPr>
          <a:xfrm>
            <a:off x="503853" y="1302885"/>
            <a:ext cx="8874217" cy="4252229"/>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627ED223-4EA8-315A-6D8C-6A378479EB12}"/>
              </a:ext>
            </a:extLst>
          </p:cNvPr>
          <p:cNvPicPr>
            <a:picLocks noChangeAspect="1"/>
          </p:cNvPicPr>
          <p:nvPr/>
        </p:nvPicPr>
        <p:blipFill>
          <a:blip r:embed="rId3"/>
          <a:stretch>
            <a:fillRect/>
          </a:stretch>
        </p:blipFill>
        <p:spPr>
          <a:xfrm>
            <a:off x="568231" y="1275371"/>
            <a:ext cx="8539447" cy="3696986"/>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 </a:t>
            </a:r>
            <a:endParaRPr lang="en-IN" dirty="0"/>
          </a:p>
        </p:txBody>
      </p:sp>
      <p:pic>
        <p:nvPicPr>
          <p:cNvPr id="3" name="Picture 2">
            <a:extLst>
              <a:ext uri="{FF2B5EF4-FFF2-40B4-BE49-F238E27FC236}">
                <a16:creationId xmlns:a16="http://schemas.microsoft.com/office/drawing/2014/main" id="{EDCA1941-8E65-DE1B-3FF0-732AD9CB8F4C}"/>
              </a:ext>
            </a:extLst>
          </p:cNvPr>
          <p:cNvPicPr>
            <a:picLocks noChangeAspect="1"/>
          </p:cNvPicPr>
          <p:nvPr/>
        </p:nvPicPr>
        <p:blipFill>
          <a:blip r:embed="rId3"/>
          <a:stretch>
            <a:fillRect/>
          </a:stretch>
        </p:blipFill>
        <p:spPr>
          <a:xfrm>
            <a:off x="553976" y="1073020"/>
            <a:ext cx="9393217" cy="5331793"/>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87D85019-1FA4-B2B3-005A-0E32B1B39B3A}"/>
              </a:ext>
            </a:extLst>
          </p:cNvPr>
          <p:cNvPicPr>
            <a:picLocks noChangeAspect="1"/>
          </p:cNvPicPr>
          <p:nvPr/>
        </p:nvPicPr>
        <p:blipFill>
          <a:blip r:embed="rId3"/>
          <a:stretch>
            <a:fillRect/>
          </a:stretch>
        </p:blipFill>
        <p:spPr>
          <a:xfrm>
            <a:off x="320982" y="1121873"/>
            <a:ext cx="9700187" cy="4614254"/>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4EB7FD7B-38E0-30A0-FB1B-2CFD1E76B152}"/>
              </a:ext>
            </a:extLst>
          </p:cNvPr>
          <p:cNvSpPr txBox="1"/>
          <p:nvPr/>
        </p:nvSpPr>
        <p:spPr>
          <a:xfrm>
            <a:off x="438539" y="1344362"/>
            <a:ext cx="9086142" cy="2862322"/>
          </a:xfrm>
          <a:prstGeom prst="rect">
            <a:avLst/>
          </a:prstGeom>
          <a:noFill/>
        </p:spPr>
        <p:txBody>
          <a:bodyPr wrap="none" rtlCol="0">
            <a:spAutoFit/>
          </a:bodyPr>
          <a:lstStyle/>
          <a:p>
            <a:endParaRPr lang="en-IN" b="1" dirty="0"/>
          </a:p>
          <a:p>
            <a:pPr marL="285750" lvl="0" indent="-285750">
              <a:buFont typeface="Arial" panose="020B0604020202020204" pitchFamily="34" charset="0"/>
              <a:buChar char="•"/>
            </a:pPr>
            <a:r>
              <a:rPr lang="en-IN" dirty="0"/>
              <a:t>Develop machine learning models to predict crop yield.</a:t>
            </a:r>
          </a:p>
          <a:p>
            <a:pPr marL="285750" lvl="0" indent="-285750">
              <a:buFont typeface="Arial" panose="020B0604020202020204" pitchFamily="34" charset="0"/>
              <a:buChar char="•"/>
            </a:pPr>
            <a:r>
              <a:rPr lang="en-IN" dirty="0"/>
              <a:t>Develop models to predict agricultural profit.</a:t>
            </a:r>
          </a:p>
          <a:p>
            <a:pPr marL="285750" lvl="0" indent="-285750">
              <a:buFont typeface="Arial" panose="020B0604020202020204" pitchFamily="34" charset="0"/>
              <a:buChar char="•"/>
            </a:pPr>
            <a:r>
              <a:rPr lang="en-IN" dirty="0"/>
              <a:t>Perform time-series analysis using multi-year agricultural data.</a:t>
            </a:r>
          </a:p>
          <a:p>
            <a:pPr marL="285750" lvl="0" indent="-285750">
              <a:buFont typeface="Arial" panose="020B0604020202020204" pitchFamily="34" charset="0"/>
              <a:buChar char="•"/>
            </a:pPr>
            <a:r>
              <a:rPr lang="en-IN" dirty="0"/>
              <a:t>Build crop recommendation systems.</a:t>
            </a:r>
          </a:p>
          <a:p>
            <a:pPr marL="285750" lvl="0" indent="-285750">
              <a:buFont typeface="Arial" panose="020B0604020202020204" pitchFamily="34" charset="0"/>
              <a:buChar char="•"/>
            </a:pPr>
            <a:r>
              <a:rPr lang="en-IN" dirty="0"/>
              <a:t>Develop region-specific agricultural recommendations.</a:t>
            </a:r>
          </a:p>
          <a:p>
            <a:pPr marL="285750" lvl="0" indent="-285750">
              <a:buFont typeface="Arial" panose="020B0604020202020204" pitchFamily="34" charset="0"/>
              <a:buChar char="•"/>
            </a:pPr>
            <a:r>
              <a:rPr lang="en-IN" dirty="0"/>
              <a:t>Analyze the impact of environmental factors using advanced statistical models.</a:t>
            </a:r>
          </a:p>
          <a:p>
            <a:pPr marL="285750" lvl="0" indent="-285750">
              <a:buFont typeface="Arial" panose="020B0604020202020204" pitchFamily="34" charset="0"/>
              <a:buChar char="•"/>
            </a:pPr>
            <a:r>
              <a:rPr lang="en-IN" dirty="0"/>
              <a:t>Develop dashboards for real-time agricultural performance monitoring.</a:t>
            </a:r>
          </a:p>
          <a:p>
            <a:pPr marL="285750" lvl="0" indent="-285750">
              <a:buFont typeface="Arial" panose="020B0604020202020204" pitchFamily="34" charset="0"/>
              <a:buChar char="•"/>
            </a:pPr>
            <a:r>
              <a:rPr lang="en-IN" dirty="0"/>
              <a:t>Optimize irrigation, fertilizer and other resource usage using data-driven methods.</a:t>
            </a:r>
          </a:p>
          <a:p>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1477328"/>
          </a:xfrm>
          <a:prstGeom prst="rect">
            <a:avLst/>
          </a:prstGeom>
          <a:noFill/>
        </p:spPr>
        <p:txBody>
          <a:bodyPr wrap="square">
            <a:spAutoFit/>
          </a:bodyPr>
          <a:lstStyle/>
          <a:p>
            <a:endParaRPr lang="en-US" dirty="0"/>
          </a:p>
          <a:p>
            <a:endParaRPr lang="en-US" dirty="0"/>
          </a:p>
          <a:p>
            <a:r>
              <a:rPr lang="en-US" dirty="0"/>
              <a:t>https://github.com/saipriya-4/Seasonal_Agriculture_Performance_Analysis_for_internship_vois.git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B5758498-C8C1-1C62-CDCA-A3C2C2A17D7B}"/>
              </a:ext>
            </a:extLst>
          </p:cNvPr>
          <p:cNvPicPr>
            <a:picLocks noChangeAspect="1"/>
          </p:cNvPicPr>
          <p:nvPr/>
        </p:nvPicPr>
        <p:blipFill>
          <a:blip r:embed="rId3"/>
          <a:stretch>
            <a:fillRect/>
          </a:stretch>
        </p:blipFill>
        <p:spPr>
          <a:xfrm>
            <a:off x="320982" y="1529019"/>
            <a:ext cx="5519444" cy="3799961"/>
          </a:xfrm>
          <a:prstGeom prst="rect">
            <a:avLst/>
          </a:prstGeom>
        </p:spPr>
      </p:pic>
      <p:pic>
        <p:nvPicPr>
          <p:cNvPr id="9" name="Picture 8">
            <a:extLst>
              <a:ext uri="{FF2B5EF4-FFF2-40B4-BE49-F238E27FC236}">
                <a16:creationId xmlns:a16="http://schemas.microsoft.com/office/drawing/2014/main" id="{00B539A9-8C16-F029-3343-DD10E799850B}"/>
              </a:ext>
            </a:extLst>
          </p:cNvPr>
          <p:cNvPicPr>
            <a:picLocks noChangeAspect="1"/>
          </p:cNvPicPr>
          <p:nvPr/>
        </p:nvPicPr>
        <p:blipFill>
          <a:blip r:embed="rId4"/>
          <a:stretch>
            <a:fillRect/>
          </a:stretch>
        </p:blipFill>
        <p:spPr>
          <a:xfrm>
            <a:off x="6223518" y="1577543"/>
            <a:ext cx="5226724" cy="3702913"/>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1378667" y="2355839"/>
            <a:ext cx="8577096" cy="1606732"/>
          </a:xfrm>
        </p:spPr>
        <p:txBody>
          <a:bodyPr>
            <a:normAutofit/>
          </a:bodyPr>
          <a:lstStyle/>
          <a:p>
            <a:r>
              <a:rPr lang="en-IN" sz="2800" dirty="0"/>
              <a:t>Seasonal Agriculture Performance Analysis</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1386</TotalTime>
  <Words>557</Words>
  <Application>Microsoft Office PowerPoint</Application>
  <PresentationFormat>Widescreen</PresentationFormat>
  <Paragraphs>72</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Times New Roman</vt:lpstr>
      <vt:lpstr>Trebuchet MS</vt:lpstr>
      <vt:lpstr>Wingdings</vt:lpstr>
      <vt:lpstr>Wingdings 3</vt:lpstr>
      <vt:lpstr>Facet</vt:lpstr>
      <vt:lpstr>Project Title -</vt:lpstr>
      <vt:lpstr>PROBLEM  STATEMENT</vt:lpstr>
      <vt:lpstr>Project Description  Seasonal Agriculture Performance Analysis is a Data Analytics project that examines agricultural activities across Kharif, Rabi and Zaid seasons. The project uses agricultural data containing information about crops, geographical regions, environmental conditions, irrigation methods, fertilizer usage, water consumption, production, yield, revenue, cost and profit. The analysis begins with data understanding and cleaning, followed by exploratory data analysis and visualization. Seasonal comparisons are performed to understand differences in agricultural performance. The project also analyzes environmental conditions, irrigation, fertilizer usage, water efficiency, crop performance, regional performance and profitability. Statistical techniques such as one-way ANOVA and correlation analysis are used to determine significant differences and relationships within the dataset. The final objective is to generate evidence-based insights and recommendations that can support better seasonal agricultural planning.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enjamsaipriya4@outlook.com</cp:lastModifiedBy>
  <cp:revision>99</cp:revision>
  <dcterms:created xsi:type="dcterms:W3CDTF">2021-07-11T13:13:15Z</dcterms:created>
  <dcterms:modified xsi:type="dcterms:W3CDTF">2026-09-09T16:31:32Z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